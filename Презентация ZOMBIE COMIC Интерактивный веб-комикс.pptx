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8" r:id="rId3"/>
    <p:sldId id="260" r:id="rId4"/>
    <p:sldId id="259" r:id="rId5"/>
    <p:sldId id="261" r:id="rId6"/>
    <p:sldId id="263" r:id="rId7"/>
    <p:sldId id="264" r:id="rId8"/>
    <p:sldId id="265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69" autoAdjust="0"/>
    <p:restoredTop sz="94660"/>
  </p:normalViewPr>
  <p:slideViewPr>
    <p:cSldViewPr snapToGrid="0">
      <p:cViewPr varScale="1">
        <p:scale>
          <a:sx n="86" d="100"/>
          <a:sy n="86" d="100"/>
        </p:scale>
        <p:origin x="28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AFC0B2-8739-44A8-B09E-92BF77672703}" type="datetimeFigureOut">
              <a:rPr lang="ru-RU" smtClean="0"/>
              <a:t>24.04.2026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5C8116-30C9-4AB7-91D7-8AB89A93135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969355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AFC0B2-8739-44A8-B09E-92BF77672703}" type="datetimeFigureOut">
              <a:rPr lang="ru-RU" smtClean="0"/>
              <a:t>24.04.2026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5C8116-30C9-4AB7-91D7-8AB89A93135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011629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AFC0B2-8739-44A8-B09E-92BF77672703}" type="datetimeFigureOut">
              <a:rPr lang="ru-RU" smtClean="0"/>
              <a:t>24.04.2026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5C8116-30C9-4AB7-91D7-8AB89A93135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990368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AFC0B2-8739-44A8-B09E-92BF77672703}" type="datetimeFigureOut">
              <a:rPr lang="ru-RU" smtClean="0"/>
              <a:t>24.04.2026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5C8116-30C9-4AB7-91D7-8AB89A93135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093571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AFC0B2-8739-44A8-B09E-92BF77672703}" type="datetimeFigureOut">
              <a:rPr lang="ru-RU" smtClean="0"/>
              <a:t>24.04.2026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5C8116-30C9-4AB7-91D7-8AB89A93135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497888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AFC0B2-8739-44A8-B09E-92BF77672703}" type="datetimeFigureOut">
              <a:rPr lang="ru-RU" smtClean="0"/>
              <a:t>24.04.2026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5C8116-30C9-4AB7-91D7-8AB89A93135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284430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AFC0B2-8739-44A8-B09E-92BF77672703}" type="datetimeFigureOut">
              <a:rPr lang="ru-RU" smtClean="0"/>
              <a:t>24.04.2026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5C8116-30C9-4AB7-91D7-8AB89A93135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633713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AFC0B2-8739-44A8-B09E-92BF77672703}" type="datetimeFigureOut">
              <a:rPr lang="ru-RU" smtClean="0"/>
              <a:t>24.04.2026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5C8116-30C9-4AB7-91D7-8AB89A93135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828209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AFC0B2-8739-44A8-B09E-92BF77672703}" type="datetimeFigureOut">
              <a:rPr lang="ru-RU" smtClean="0"/>
              <a:t>24.04.2026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5C8116-30C9-4AB7-91D7-8AB89A93135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017935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AFC0B2-8739-44A8-B09E-92BF77672703}" type="datetimeFigureOut">
              <a:rPr lang="ru-RU" smtClean="0"/>
              <a:t>24.04.2026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5C8116-30C9-4AB7-91D7-8AB89A93135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948528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AFC0B2-8739-44A8-B09E-92BF77672703}" type="datetimeFigureOut">
              <a:rPr lang="ru-RU" smtClean="0"/>
              <a:t>24.04.2026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5C8116-30C9-4AB7-91D7-8AB89A93135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816365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AFC0B2-8739-44A8-B09E-92BF77672703}" type="datetimeFigureOut">
              <a:rPr lang="ru-RU" smtClean="0"/>
              <a:t>24.04.2026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5C8116-30C9-4AB7-91D7-8AB89A93135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8725203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C969535-A1B2-4C7D-BC61-5AB167FC62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081668"/>
            <a:ext cx="9144000" cy="2865864"/>
          </a:xfrm>
        </p:spPr>
        <p:txBody>
          <a:bodyPr>
            <a:noAutofit/>
          </a:bodyPr>
          <a:lstStyle/>
          <a:p>
            <a:r>
              <a:rPr lang="en-US" sz="7200" b="1" i="0" dirty="0">
                <a:effectLst/>
                <a:latin typeface="-apple-system"/>
              </a:rPr>
              <a:t>ZOMBIE COMIC </a:t>
            </a:r>
            <a:r>
              <a:rPr lang="ru-RU" sz="6600" b="1" i="0" dirty="0">
                <a:effectLst/>
                <a:latin typeface="-apple-system"/>
              </a:rPr>
              <a:t>Интерактивный веб-комикс</a:t>
            </a:r>
            <a:endParaRPr lang="ru-RU" sz="6600" b="1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8C67BA9-5DA8-46A4-B5F5-5373623CE4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103649"/>
            <a:ext cx="9144000" cy="1862252"/>
          </a:xfrm>
        </p:spPr>
        <p:txBody>
          <a:bodyPr>
            <a:noAutofit/>
          </a:bodyPr>
          <a:lstStyle/>
          <a:p>
            <a:r>
              <a:rPr lang="ru-RU" sz="3200" b="1" i="0" dirty="0">
                <a:solidFill>
                  <a:srgbClr val="FF0000"/>
                </a:solidFill>
                <a:effectLst/>
                <a:latin typeface="-apple-system"/>
              </a:rPr>
              <a:t>Адаптация комикс-игры Джона </a:t>
            </a:r>
            <a:r>
              <a:rPr lang="ru-RU" sz="3200" b="1" i="0" dirty="0" err="1">
                <a:solidFill>
                  <a:srgbClr val="FF0000"/>
                </a:solidFill>
                <a:effectLst/>
                <a:latin typeface="-apple-system"/>
              </a:rPr>
              <a:t>Ланкрая</a:t>
            </a:r>
            <a:r>
              <a:rPr lang="ru-RU" sz="3200" b="1" i="0" dirty="0">
                <a:solidFill>
                  <a:srgbClr val="FF0000"/>
                </a:solidFill>
                <a:effectLst/>
                <a:latin typeface="-apple-system"/>
              </a:rPr>
              <a:t> с ветвящимся сюжетом</a:t>
            </a:r>
            <a:endParaRPr lang="en-US" sz="3200" b="1" i="0" dirty="0">
              <a:solidFill>
                <a:srgbClr val="FF0000"/>
              </a:solidFill>
              <a:effectLst/>
              <a:latin typeface="-apple-system"/>
            </a:endParaRPr>
          </a:p>
          <a:p>
            <a:endParaRPr lang="en-US" sz="3200" dirty="0">
              <a:latin typeface="-apple-system"/>
            </a:endParaRPr>
          </a:p>
        </p:txBody>
      </p:sp>
    </p:spTree>
    <p:extLst>
      <p:ext uri="{BB962C8B-B14F-4D97-AF65-F5344CB8AC3E}">
        <p14:creationId xmlns:p14="http://schemas.microsoft.com/office/powerpoint/2010/main" val="5174741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Таблица 7">
            <a:extLst>
              <a:ext uri="{FF2B5EF4-FFF2-40B4-BE49-F238E27FC236}">
                <a16:creationId xmlns:a16="http://schemas.microsoft.com/office/drawing/2014/main" id="{EAFAD46C-A035-4FD9-B790-6813A7AA725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48470858"/>
              </p:ext>
            </p:extLst>
          </p:nvPr>
        </p:nvGraphicFramePr>
        <p:xfrm>
          <a:off x="858645" y="512956"/>
          <a:ext cx="10496744" cy="61746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17940">
                  <a:extLst>
                    <a:ext uri="{9D8B030D-6E8A-4147-A177-3AD203B41FA5}">
                      <a16:colId xmlns:a16="http://schemas.microsoft.com/office/drawing/2014/main" val="1623992573"/>
                    </a:ext>
                  </a:extLst>
                </a:gridCol>
                <a:gridCol w="5278804">
                  <a:extLst>
                    <a:ext uri="{9D8B030D-6E8A-4147-A177-3AD203B41FA5}">
                      <a16:colId xmlns:a16="http://schemas.microsoft.com/office/drawing/2014/main" val="3927294734"/>
                    </a:ext>
                  </a:extLst>
                </a:gridCol>
              </a:tblGrid>
              <a:tr h="1590336">
                <a:tc>
                  <a:txBody>
                    <a:bodyPr/>
                    <a:lstStyle/>
                    <a:p>
                      <a:pPr algn="ctr" fontAlgn="t"/>
                      <a:r>
                        <a:rPr lang="ru-RU" sz="6600" b="1" dirty="0">
                          <a:solidFill>
                            <a:schemeClr val="tx1"/>
                          </a:solidFill>
                          <a:effectLst/>
                          <a:latin typeface="inherit"/>
                        </a:rPr>
                        <a:t>Проблема</a:t>
                      </a:r>
                    </a:p>
                  </a:txBody>
                  <a:tcPr marL="95250" marR="95250" marT="95250" marB="9525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66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Решение</a:t>
                      </a:r>
                      <a:endParaRPr lang="ru-RU" sz="6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1738955"/>
                  </a:ext>
                </a:extLst>
              </a:tr>
              <a:tr h="1910116">
                <a:tc>
                  <a:txBody>
                    <a:bodyPr/>
                    <a:lstStyle/>
                    <a:p>
                      <a:pPr algn="ctr"/>
                      <a:r>
                        <a:rPr lang="ru-RU" sz="3200" b="1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Книжная версия неудобна для чтения</a:t>
                      </a:r>
                      <a:endParaRPr lang="ru-RU" sz="32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3200" b="1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Веб-приложение с интерактивным интерфейсом</a:t>
                      </a:r>
                      <a:endParaRPr lang="ru-RU" sz="32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2957730"/>
                  </a:ext>
                </a:extLst>
              </a:tr>
              <a:tr h="1337082">
                <a:tc>
                  <a:txBody>
                    <a:bodyPr/>
                    <a:lstStyle/>
                    <a:p>
                      <a:pPr algn="ctr"/>
                      <a:r>
                        <a:rPr lang="ru-RU" sz="3200" b="1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Линейный сюжет</a:t>
                      </a:r>
                      <a:endParaRPr lang="ru-RU" sz="32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3200" b="1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Ветвящийся сюжет с выбором действий</a:t>
                      </a:r>
                      <a:endParaRPr lang="ru-RU" sz="32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4610986"/>
                  </a:ext>
                </a:extLst>
              </a:tr>
              <a:tr h="1337082">
                <a:tc>
                  <a:txBody>
                    <a:bodyPr/>
                    <a:lstStyle/>
                    <a:p>
                      <a:pPr algn="ctr"/>
                      <a:r>
                        <a:rPr lang="ru-RU" sz="3200" b="1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Статичный контент</a:t>
                      </a:r>
                      <a:endParaRPr lang="ru-RU" sz="32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3200" b="1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Динамические панели с кнопками перехода</a:t>
                      </a:r>
                      <a:endParaRPr lang="ru-RU" sz="32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27212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971582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8548557-EE15-4F5F-BF52-73AAD83D04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579864"/>
            <a:ext cx="10515600" cy="1182029"/>
          </a:xfrm>
        </p:spPr>
        <p:txBody>
          <a:bodyPr>
            <a:noAutofit/>
          </a:bodyPr>
          <a:lstStyle/>
          <a:p>
            <a:pPr algn="ctr"/>
            <a:r>
              <a:rPr lang="ru-RU" sz="8800" b="1" dirty="0"/>
              <a:t>Технологический стек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6D88E57-CAEB-47D1-B77F-F43AB66A2D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2810107"/>
            <a:ext cx="10515600" cy="3279543"/>
          </a:xfrm>
        </p:spPr>
        <p:txBody>
          <a:bodyPr>
            <a:normAutofit lnSpcReduction="10000"/>
          </a:bodyPr>
          <a:lstStyle/>
          <a:p>
            <a:r>
              <a:rPr lang="ru-RU" sz="4400" i="0" dirty="0" err="1">
                <a:effectLst/>
                <a:latin typeface="inherit"/>
              </a:rPr>
              <a:t>Фронтенд</a:t>
            </a:r>
            <a:r>
              <a:rPr lang="ru-RU" sz="4400" i="0" dirty="0">
                <a:effectLst/>
                <a:latin typeface="inherit"/>
              </a:rPr>
              <a:t>: </a:t>
            </a:r>
            <a:r>
              <a:rPr lang="en-US" sz="4400" b="1" i="0" dirty="0">
                <a:solidFill>
                  <a:srgbClr val="FF0000"/>
                </a:solidFill>
                <a:effectLst/>
                <a:latin typeface="inherit"/>
              </a:rPr>
              <a:t>HTML5, CSS3, JavaScript</a:t>
            </a:r>
          </a:p>
          <a:p>
            <a:r>
              <a:rPr lang="ru-RU" sz="4400" i="0" dirty="0">
                <a:effectLst/>
                <a:latin typeface="-apple-system"/>
              </a:rPr>
              <a:t>Бэкенд: </a:t>
            </a:r>
            <a:r>
              <a:rPr lang="en-US" sz="4400" b="1" i="0" dirty="0">
                <a:solidFill>
                  <a:srgbClr val="FF0000"/>
                </a:solidFill>
                <a:effectLst/>
                <a:latin typeface="-apple-system"/>
              </a:rPr>
              <a:t>Python, Django</a:t>
            </a:r>
            <a:endParaRPr lang="ru-RU" sz="4400" b="1" i="0" dirty="0">
              <a:solidFill>
                <a:srgbClr val="FF0000"/>
              </a:solidFill>
              <a:effectLst/>
              <a:latin typeface="-apple-system"/>
            </a:endParaRPr>
          </a:p>
          <a:p>
            <a:r>
              <a:rPr lang="ru-RU" sz="4400" i="0" dirty="0">
                <a:effectLst/>
                <a:latin typeface="inherit"/>
              </a:rPr>
              <a:t>База данных: </a:t>
            </a:r>
            <a:r>
              <a:rPr lang="en-US" sz="4400" b="1" i="0" dirty="0">
                <a:solidFill>
                  <a:srgbClr val="FF0000"/>
                </a:solidFill>
                <a:effectLst/>
                <a:latin typeface="inherit"/>
              </a:rPr>
              <a:t>PostgreSQL</a:t>
            </a:r>
            <a:endParaRPr lang="ru-RU" sz="4400" b="1" i="0" dirty="0">
              <a:solidFill>
                <a:srgbClr val="FF0000"/>
              </a:solidFill>
              <a:effectLst/>
              <a:latin typeface="inherit"/>
            </a:endParaRPr>
          </a:p>
          <a:p>
            <a:r>
              <a:rPr lang="ru-RU" sz="4400" i="0" dirty="0">
                <a:effectLst/>
                <a:latin typeface="inherit"/>
              </a:rPr>
              <a:t>Медиа</a:t>
            </a:r>
            <a:r>
              <a:rPr lang="en-US" sz="4400" i="0" dirty="0">
                <a:effectLst/>
                <a:latin typeface="inherit"/>
              </a:rPr>
              <a:t>: </a:t>
            </a:r>
            <a:r>
              <a:rPr lang="en-US" sz="4400" i="0" dirty="0">
                <a:solidFill>
                  <a:srgbClr val="FF0000"/>
                </a:solidFill>
                <a:effectLst/>
                <a:latin typeface="-apple-system"/>
              </a:rPr>
              <a:t>media/panels/</a:t>
            </a:r>
            <a:r>
              <a:rPr lang="ru-RU" sz="4400" i="0" dirty="0">
                <a:solidFill>
                  <a:srgbClr val="FF0000"/>
                </a:solidFill>
                <a:effectLst/>
                <a:latin typeface="-apple-system"/>
              </a:rPr>
              <a:t> </a:t>
            </a:r>
            <a:r>
              <a:rPr lang="ru-RU" sz="4400" i="0" dirty="0">
                <a:effectLst/>
                <a:latin typeface="-apple-system"/>
              </a:rPr>
              <a:t>— хранилище изображений комикса</a:t>
            </a:r>
            <a:endParaRPr lang="en-US" sz="4400" i="0" dirty="0">
              <a:effectLst/>
              <a:latin typeface="inherit"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180163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preview">
            <a:extLst>
              <a:ext uri="{FF2B5EF4-FFF2-40B4-BE49-F238E27FC236}">
                <a16:creationId xmlns:a16="http://schemas.microsoft.com/office/drawing/2014/main" id="{6A5A9611-43AA-4CD1-8CD4-1EF84BC330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9288" y="0"/>
            <a:ext cx="10891837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240317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>
            <a:extLst>
              <a:ext uri="{FF2B5EF4-FFF2-40B4-BE49-F238E27FC236}">
                <a16:creationId xmlns:a16="http://schemas.microsoft.com/office/drawing/2014/main" id="{938C0B4D-BA37-432B-80D0-5687C9207C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0325"/>
            <a:ext cx="12192000" cy="6737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232893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>
            <a:extLst>
              <a:ext uri="{FF2B5EF4-FFF2-40B4-BE49-F238E27FC236}">
                <a16:creationId xmlns:a16="http://schemas.microsoft.com/office/drawing/2014/main" id="{7AE333F9-F673-4A8F-91E2-3AA95EA0D6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2613" y="0"/>
            <a:ext cx="11026775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684074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>
            <a:extLst>
              <a:ext uri="{FF2B5EF4-FFF2-40B4-BE49-F238E27FC236}">
                <a16:creationId xmlns:a16="http://schemas.microsoft.com/office/drawing/2014/main" id="{A209AA76-D87D-47EA-94A0-E2DF231D1F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579863"/>
            <a:ext cx="5157787" cy="981308"/>
          </a:xfrm>
        </p:spPr>
        <p:txBody>
          <a:bodyPr>
            <a:normAutofit/>
          </a:bodyPr>
          <a:lstStyle/>
          <a:p>
            <a:r>
              <a:rPr lang="ru-RU" sz="4800" dirty="0"/>
              <a:t>ПРЕИМУЩЕСТВА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19DE85FA-2524-4069-8E51-453A1C1167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1906859"/>
            <a:ext cx="5157787" cy="4282804"/>
          </a:xfrm>
        </p:spPr>
        <p:txBody>
          <a:bodyPr>
            <a:normAutofit fontScale="85000" lnSpcReduction="20000"/>
          </a:bodyPr>
          <a:lstStyle/>
          <a:p>
            <a:r>
              <a:rPr lang="ru-RU" b="1" dirty="0">
                <a:solidFill>
                  <a:srgbClr val="FF0000"/>
                </a:solidFill>
              </a:rPr>
              <a:t>Интерактивность</a:t>
            </a:r>
            <a:r>
              <a:rPr lang="ru-RU" b="1" dirty="0"/>
              <a:t> - превращает пассивное чтение в активный опыт</a:t>
            </a:r>
          </a:p>
          <a:p>
            <a:r>
              <a:rPr lang="ru-RU" b="1" dirty="0">
                <a:solidFill>
                  <a:srgbClr val="FF0000"/>
                </a:solidFill>
              </a:rPr>
              <a:t>Доступность</a:t>
            </a:r>
            <a:r>
              <a:rPr lang="ru-RU" b="1" dirty="0"/>
              <a:t> - работает в любом браузере без установки</a:t>
            </a:r>
          </a:p>
          <a:p>
            <a:r>
              <a:rPr lang="ru-RU" b="1" dirty="0">
                <a:solidFill>
                  <a:srgbClr val="FF0000"/>
                </a:solidFill>
              </a:rPr>
              <a:t>Гибкость</a:t>
            </a:r>
            <a:r>
              <a:rPr lang="ru-RU" b="1" dirty="0"/>
              <a:t> - легко добавлять новые панели и ветки сюжета</a:t>
            </a:r>
          </a:p>
          <a:p>
            <a:r>
              <a:rPr lang="ru-RU" b="1" dirty="0">
                <a:solidFill>
                  <a:srgbClr val="FF0000"/>
                </a:solidFill>
              </a:rPr>
              <a:t>Удобство</a:t>
            </a:r>
            <a:r>
              <a:rPr lang="en-US" b="1" dirty="0"/>
              <a:t> </a:t>
            </a:r>
            <a:r>
              <a:rPr lang="ru-RU" b="1" dirty="0"/>
              <a:t>- админ-панель для управления контентом без </a:t>
            </a:r>
            <a:r>
              <a:rPr lang="ru-RU" dirty="0"/>
              <a:t>кода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AD14D5E1-B73E-4915-8B58-9B5F403A8AD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579863"/>
            <a:ext cx="5183188" cy="981308"/>
          </a:xfrm>
        </p:spPr>
        <p:txBody>
          <a:bodyPr>
            <a:normAutofit/>
          </a:bodyPr>
          <a:lstStyle/>
          <a:p>
            <a:r>
              <a:rPr lang="ru-RU" sz="4800" dirty="0">
                <a:solidFill>
                  <a:srgbClr val="FF0000"/>
                </a:solidFill>
              </a:rPr>
              <a:t>ВЫЗОВЫ И РИСКИ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C76CBF2F-EA02-4F4A-8CE1-2898A16BD66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1906859"/>
            <a:ext cx="5183188" cy="4282804"/>
          </a:xfrm>
        </p:spPr>
        <p:txBody>
          <a:bodyPr>
            <a:normAutofit fontScale="85000" lnSpcReduction="20000"/>
          </a:bodyPr>
          <a:lstStyle/>
          <a:p>
            <a:r>
              <a:rPr lang="ru-RU" b="1" dirty="0">
                <a:solidFill>
                  <a:srgbClr val="FF0000"/>
                </a:solidFill>
              </a:rPr>
              <a:t>Сложность контента </a:t>
            </a:r>
            <a:r>
              <a:rPr lang="ru-RU" b="1" dirty="0"/>
              <a:t>- ручной ввод и связей всех панелей - трудоёмко</a:t>
            </a:r>
          </a:p>
          <a:p>
            <a:r>
              <a:rPr lang="ru-RU" b="1" dirty="0">
                <a:solidFill>
                  <a:srgbClr val="FF0000"/>
                </a:solidFill>
              </a:rPr>
              <a:t>Медиа-зависимость</a:t>
            </a:r>
            <a:r>
              <a:rPr lang="ru-RU" b="1" dirty="0"/>
              <a:t> - большой объём изображений требует хранилища</a:t>
            </a:r>
          </a:p>
          <a:p>
            <a:r>
              <a:rPr lang="ru-RU" b="1" dirty="0">
                <a:solidFill>
                  <a:srgbClr val="FF0000"/>
                </a:solidFill>
              </a:rPr>
              <a:t>Масштабируемость</a:t>
            </a:r>
            <a:r>
              <a:rPr lang="ru-RU" b="1" dirty="0"/>
              <a:t> - при глубоком ответвлении сложно отслеживать логику</a:t>
            </a:r>
          </a:p>
          <a:p>
            <a:r>
              <a:rPr lang="ru-RU" b="1" dirty="0">
                <a:solidFill>
                  <a:srgbClr val="FF0000"/>
                </a:solidFill>
              </a:rPr>
              <a:t>Адаптивность</a:t>
            </a:r>
            <a:r>
              <a:rPr lang="ru-RU" b="1" dirty="0"/>
              <a:t> - нужна оптимизация под мобильные устройства</a:t>
            </a:r>
          </a:p>
          <a:p>
            <a:r>
              <a:rPr lang="ru-RU" b="1" dirty="0">
                <a:solidFill>
                  <a:srgbClr val="FF0000"/>
                </a:solidFill>
              </a:rPr>
              <a:t>Безопасность</a:t>
            </a:r>
            <a:r>
              <a:rPr lang="ru-RU" b="1" dirty="0"/>
              <a:t> - защита от несанкционированного доступа к админ-панели</a:t>
            </a:r>
          </a:p>
        </p:txBody>
      </p:sp>
    </p:spTree>
    <p:extLst>
      <p:ext uri="{BB962C8B-B14F-4D97-AF65-F5344CB8AC3E}">
        <p14:creationId xmlns:p14="http://schemas.microsoft.com/office/powerpoint/2010/main" val="2553203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>
            <a:extLst>
              <a:ext uri="{FF2B5EF4-FFF2-40B4-BE49-F238E27FC236}">
                <a16:creationId xmlns:a16="http://schemas.microsoft.com/office/drawing/2014/main" id="{B85E24C9-8D85-4DD9-9535-6BB86D0C2D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60088" y="479503"/>
            <a:ext cx="4257984" cy="981307"/>
          </a:xfrm>
        </p:spPr>
        <p:txBody>
          <a:bodyPr>
            <a:noAutofit/>
          </a:bodyPr>
          <a:lstStyle/>
          <a:p>
            <a:pPr algn="ctr"/>
            <a:r>
              <a:rPr lang="ru-RU" sz="4400" dirty="0"/>
              <a:t>ВОЗМОЖНЫЕ УЛУЧШЕНИЯ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5CDF791C-3A7A-4309-8AD4-A5B39024ED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1773044"/>
            <a:ext cx="5157787" cy="4416619"/>
          </a:xfrm>
        </p:spPr>
        <p:txBody>
          <a:bodyPr>
            <a:normAutofit/>
          </a:bodyPr>
          <a:lstStyle/>
          <a:p>
            <a:r>
              <a:rPr lang="ru-RU" b="1" dirty="0">
                <a:solidFill>
                  <a:srgbClr val="FF0000"/>
                </a:solidFill>
              </a:rPr>
              <a:t>Анимация переходов</a:t>
            </a:r>
            <a:r>
              <a:rPr lang="ru-RU" b="1" dirty="0"/>
              <a:t> между панелями для погружения</a:t>
            </a:r>
          </a:p>
          <a:p>
            <a:r>
              <a:rPr lang="ru-RU" b="1" dirty="0">
                <a:solidFill>
                  <a:srgbClr val="FF0000"/>
                </a:solidFill>
              </a:rPr>
              <a:t>Сохранение прогресса </a:t>
            </a:r>
            <a:r>
              <a:rPr lang="ru-RU" b="1" dirty="0"/>
              <a:t>профилей пользователей с историей выборов</a:t>
            </a:r>
          </a:p>
          <a:p>
            <a:r>
              <a:rPr lang="ru-RU" b="1" dirty="0">
                <a:solidFill>
                  <a:srgbClr val="FF0000"/>
                </a:solidFill>
              </a:rPr>
              <a:t>Аналитика </a:t>
            </a:r>
            <a:r>
              <a:rPr lang="ru-RU" b="1" dirty="0"/>
              <a:t>- сбор статистики по популярным веткам сюжета</a:t>
            </a:r>
          </a:p>
          <a:p>
            <a:r>
              <a:rPr lang="ru-RU" b="1" dirty="0" err="1">
                <a:solidFill>
                  <a:srgbClr val="FF0000"/>
                </a:solidFill>
              </a:rPr>
              <a:t>Мультиязычность</a:t>
            </a:r>
            <a:r>
              <a:rPr lang="ru-RU" b="1" dirty="0"/>
              <a:t> поддержка переводов на разные языки</a:t>
            </a:r>
          </a:p>
          <a:p>
            <a:endParaRPr lang="ru-RU" dirty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E800C851-B157-4785-97F5-6F7FB4833B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479503"/>
            <a:ext cx="4945566" cy="858643"/>
          </a:xfrm>
        </p:spPr>
        <p:txBody>
          <a:bodyPr>
            <a:normAutofit/>
          </a:bodyPr>
          <a:lstStyle/>
          <a:p>
            <a:pPr algn="ctr"/>
            <a:r>
              <a:rPr lang="ru-RU" sz="4400" dirty="0">
                <a:solidFill>
                  <a:srgbClr val="FF0000"/>
                </a:solidFill>
              </a:rPr>
              <a:t>ЗАКЛЮЧЕНИЕ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71FC3DE2-A6F3-408A-8DA6-3CA502C0FA3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1773044"/>
            <a:ext cx="5183188" cy="4605453"/>
          </a:xfrm>
        </p:spPr>
        <p:txBody>
          <a:bodyPr>
            <a:noAutofit/>
          </a:bodyPr>
          <a:lstStyle/>
          <a:p>
            <a:r>
              <a:rPr lang="ru-RU" b="1" dirty="0"/>
              <a:t>Проект успешно решает задачу адаптации комикса-игры в цифровой формат</a:t>
            </a:r>
          </a:p>
          <a:p>
            <a:r>
              <a:rPr lang="ru-RU" b="1" dirty="0"/>
              <a:t>Архитектура на </a:t>
            </a:r>
            <a:r>
              <a:rPr lang="en-US" b="1" dirty="0"/>
              <a:t>Django</a:t>
            </a:r>
            <a:r>
              <a:rPr lang="ru-RU" b="1" dirty="0"/>
              <a:t> обеспечивает надёжность и масштабируемость</a:t>
            </a:r>
          </a:p>
          <a:p>
            <a:r>
              <a:rPr lang="ru-RU" b="1" dirty="0"/>
              <a:t>Модель </a:t>
            </a:r>
            <a:r>
              <a:rPr lang="en-US" b="1" dirty="0"/>
              <a:t>Panel -&gt; Choice </a:t>
            </a:r>
            <a:r>
              <a:rPr lang="ru-RU" b="1" dirty="0"/>
              <a:t>создаёт гибкую систему ветвления сюжета</a:t>
            </a:r>
          </a:p>
          <a:p>
            <a:r>
              <a:rPr lang="ru-RU" b="1" dirty="0"/>
              <a:t>Есть значительный потенциал для расширения функционала</a:t>
            </a:r>
          </a:p>
        </p:txBody>
      </p:sp>
    </p:spTree>
    <p:extLst>
      <p:ext uri="{BB962C8B-B14F-4D97-AF65-F5344CB8AC3E}">
        <p14:creationId xmlns:p14="http://schemas.microsoft.com/office/powerpoint/2010/main" val="27211891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ветящийся край">
      <a:fillStyleLst>
        <a:solidFill>
          <a:schemeClr val="phClr"/>
        </a:solidFill>
        <a:solidFill>
          <a:schemeClr val="phClr">
            <a:tint val="55000"/>
          </a:schemeClr>
        </a:solidFill>
        <a:solidFill>
          <a:schemeClr val="phClr"/>
        </a:soli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algn="bl" rotWithShape="0">
              <a:srgbClr val="000000">
                <a:alpha val="60000"/>
              </a:srgbClr>
            </a:outerShdw>
          </a:effectLst>
        </a:effectStyle>
        <a:effectStyle>
          <a:effectLst/>
          <a:scene3d>
            <a:camera prst="orthographicFront">
              <a:rot lat="0" lon="0" rev="0"/>
            </a:camera>
            <a:lightRig rig="brightRoom" dir="tl">
              <a:rot lat="0" lon="0" rev="1800000"/>
            </a:lightRig>
          </a:scene3d>
          <a:sp3d contourW="10160" prstMaterial="dkEdge">
            <a:bevelT w="38100" h="50800" prst="angle"/>
            <a:contourClr>
              <a:schemeClr val="phClr">
                <a:shade val="40000"/>
                <a:satMod val="15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F46216B-77A9-411A-B9D3-5023FCB7020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116</TotalTime>
  <Words>203</Words>
  <Application>Microsoft Office PowerPoint</Application>
  <PresentationFormat>Широкоэкранный</PresentationFormat>
  <Paragraphs>36</Paragraphs>
  <Slides>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4" baseType="lpstr">
      <vt:lpstr>-apple-system</vt:lpstr>
      <vt:lpstr>Arial</vt:lpstr>
      <vt:lpstr>Calibri</vt:lpstr>
      <vt:lpstr>Calibri Light</vt:lpstr>
      <vt:lpstr>inherit</vt:lpstr>
      <vt:lpstr>Office Theme</vt:lpstr>
      <vt:lpstr>ZOMBIE COMIC Интерактивный веб-комикс</vt:lpstr>
      <vt:lpstr>Презентация PowerPoint</vt:lpstr>
      <vt:lpstr>Технологический стек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ZOMBIE COMIC Интерактивный веб-комикс</dc:title>
  <dc:creator>админ</dc:creator>
  <cp:lastModifiedBy>админ</cp:lastModifiedBy>
  <cp:revision>1</cp:revision>
  <dcterms:created xsi:type="dcterms:W3CDTF">2026-04-24T11:20:51Z</dcterms:created>
  <dcterms:modified xsi:type="dcterms:W3CDTF">2026-04-24T13:33:24Z</dcterms:modified>
</cp:coreProperties>
</file>